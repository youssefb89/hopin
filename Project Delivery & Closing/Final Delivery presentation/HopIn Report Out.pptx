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Urbanist SemiBold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Italic.fntdata"/><Relationship Id="rId11" Type="http://schemas.openxmlformats.org/officeDocument/2006/relationships/slide" Target="slides/slide6.xml"/><Relationship Id="rId22" Type="http://schemas.openxmlformats.org/officeDocument/2006/relationships/font" Target="fonts/Urbanist-bold.fntdata"/><Relationship Id="rId10" Type="http://schemas.openxmlformats.org/officeDocument/2006/relationships/slide" Target="slides/slide5.xml"/><Relationship Id="rId21" Type="http://schemas.openxmlformats.org/officeDocument/2006/relationships/font" Target="fonts/Urbanist-regular.fntdata"/><Relationship Id="rId13" Type="http://schemas.openxmlformats.org/officeDocument/2006/relationships/slide" Target="slides/slide8.xml"/><Relationship Id="rId24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SemiBold-italic.fntdata"/><Relationship Id="rId6" Type="http://schemas.openxmlformats.org/officeDocument/2006/relationships/slide" Target="slides/slide1.xml"/><Relationship Id="rId18" Type="http://schemas.openxmlformats.org/officeDocument/2006/relationships/font" Target="fonts/Urbanist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068645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e0686456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e0686456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de06864564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b312d46d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b312d46d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e06864564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de06864564_0_4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06864564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de06864564_0_4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e06864564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de06864564_0_4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e06864564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e06864564_0_5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e06864564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e06864564_0_4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e06864564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e06864564_0_5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b312d46d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8b312d46d7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b312d46d7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8b312d46d7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687833" y="3203653"/>
            <a:ext cx="5768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University Carpooling Platform</a:t>
            </a:r>
            <a:endParaRPr sz="3400"/>
          </a:p>
        </p:txBody>
      </p:sp>
      <p:sp>
        <p:nvSpPr>
          <p:cNvPr id="56" name="Google Shape;56;p13"/>
          <p:cNvSpPr txBox="1"/>
          <p:nvPr/>
        </p:nvSpPr>
        <p:spPr>
          <a:xfrm>
            <a:off x="2828875" y="4367784"/>
            <a:ext cx="34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Jessica,</a:t>
            </a:r>
            <a:r>
              <a:rPr lang="en-GB" sz="1100">
                <a:solidFill>
                  <a:schemeClr val="dk1"/>
                </a:solidFill>
              </a:rPr>
              <a:t>,</a:t>
            </a:r>
            <a:r>
              <a:rPr lang="en-GB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Rida, Rudra, Suhayb, Youssef </a:t>
            </a:r>
            <a:endParaRPr sz="1100"/>
          </a:p>
        </p:txBody>
      </p:sp>
      <p:pic>
        <p:nvPicPr>
          <p:cNvPr id="57" name="Google Shape;57;p13" title="543175415-af56eb1e-2e96-4215-96c4-460ddec499c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8137" y="445181"/>
            <a:ext cx="2407744" cy="2758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" name="Google Shape;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5977" y="785813"/>
            <a:ext cx="3929397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28625" y="1087636"/>
            <a:ext cx="4125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Why, How, Who, What</a:t>
            </a:r>
            <a:endParaRPr sz="1100"/>
          </a:p>
        </p:txBody>
      </p:sp>
      <p:sp>
        <p:nvSpPr>
          <p:cNvPr id="65" name="Google Shape;65;p14"/>
          <p:cNvSpPr txBox="1"/>
          <p:nvPr/>
        </p:nvSpPr>
        <p:spPr>
          <a:xfrm>
            <a:off x="428625" y="1734145"/>
            <a:ext cx="39288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Commuting to university can be a </a:t>
            </a:r>
            <a:r>
              <a:rPr lang="en-GB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challenge</a:t>
            </a:r>
            <a:r>
              <a:rPr lang="en-GB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due to rising transportation costs, limited public transit, and car issues, especially in the winter. HopIn addresses these </a:t>
            </a:r>
            <a:r>
              <a:rPr lang="en-GB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challenges</a:t>
            </a:r>
            <a:r>
              <a:rPr lang="en-GB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by connecting drivers with available seats to riders seeking reliable and safe transportation. </a:t>
            </a:r>
            <a:endParaRPr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With the university student in mind, HopIn gives users a smooth experience finding people in their area to either offer a ride, or get a ride to the university.</a:t>
            </a:r>
            <a:endParaRPr sz="1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1550" y="792956"/>
            <a:ext cx="4238251" cy="3557589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is slide beautiful "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294694" y="428625"/>
            <a:ext cx="87012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Planning Methods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561736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9" name="Google Shape;79;p16"/>
          <p:cNvSpPr txBox="1"/>
          <p:nvPr/>
        </p:nvSpPr>
        <p:spPr>
          <a:xfrm>
            <a:off x="3466898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0" name="Google Shape;80;p16"/>
          <p:cNvSpPr txBox="1"/>
          <p:nvPr/>
        </p:nvSpPr>
        <p:spPr>
          <a:xfrm>
            <a:off x="3519524" y="3937992"/>
            <a:ext cx="2105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1" name="Google Shape;81;p16"/>
          <p:cNvSpPr txBox="1"/>
          <p:nvPr/>
        </p:nvSpPr>
        <p:spPr>
          <a:xfrm>
            <a:off x="6372060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2" name="Google Shape;82;p16"/>
          <p:cNvSpPr txBox="1"/>
          <p:nvPr/>
        </p:nvSpPr>
        <p:spPr>
          <a:xfrm>
            <a:off x="6424687" y="3937992"/>
            <a:ext cx="2105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3" name="Google Shape;83;p16"/>
          <p:cNvSpPr txBox="1"/>
          <p:nvPr/>
        </p:nvSpPr>
        <p:spPr>
          <a:xfrm>
            <a:off x="1269513" y="4445469"/>
            <a:ext cx="22500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EFF9A"/>
                </a:solidFill>
              </a:rPr>
              <a:t>Project Scope Statement:</a:t>
            </a:r>
            <a:br>
              <a:rPr lang="en-GB">
                <a:solidFill>
                  <a:srgbClr val="DEFF9A"/>
                </a:solidFill>
              </a:rPr>
            </a:br>
            <a:r>
              <a:rPr lang="en-GB">
                <a:solidFill>
                  <a:srgbClr val="DEFF9A"/>
                </a:solidFill>
              </a:rPr>
              <a:t>Project Deliverables</a:t>
            </a:r>
            <a:endParaRPr sz="1400">
              <a:solidFill>
                <a:srgbClr val="DEFF9A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550" y="986800"/>
            <a:ext cx="4153449" cy="33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5036475" y="1268750"/>
            <a:ext cx="3493200" cy="294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Char char="-"/>
            </a:pPr>
            <a:r>
              <a:rPr lang="en-GB" sz="1800">
                <a:solidFill>
                  <a:srgbClr val="DEFF9A"/>
                </a:solidFill>
              </a:rPr>
              <a:t>Decided to focus on 7 core features</a:t>
            </a:r>
            <a:endParaRPr sz="1800">
              <a:solidFill>
                <a:srgbClr val="DEFF9A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Char char="-"/>
            </a:pPr>
            <a:r>
              <a:rPr lang="en-GB" sz="1800">
                <a:solidFill>
                  <a:srgbClr val="DEFF9A"/>
                </a:solidFill>
              </a:rPr>
              <a:t>Excluded:</a:t>
            </a:r>
            <a:endParaRPr sz="1800">
              <a:solidFill>
                <a:srgbClr val="DEFF9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Char char="-"/>
            </a:pPr>
            <a:r>
              <a:rPr lang="en-GB" sz="1800">
                <a:solidFill>
                  <a:srgbClr val="DEFF9A"/>
                </a:solidFill>
              </a:rPr>
              <a:t>Integration with external payment system</a:t>
            </a:r>
            <a:endParaRPr sz="1800">
              <a:solidFill>
                <a:srgbClr val="DEFF9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Char char="-"/>
            </a:pPr>
            <a:r>
              <a:rPr lang="en-GB" sz="1800">
                <a:solidFill>
                  <a:srgbClr val="DEFF9A"/>
                </a:solidFill>
              </a:rPr>
              <a:t>Liability management</a:t>
            </a:r>
            <a:endParaRPr sz="1800">
              <a:solidFill>
                <a:srgbClr val="DEFF9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Char char="-"/>
            </a:pPr>
            <a:r>
              <a:rPr lang="en-GB" sz="1800">
                <a:solidFill>
                  <a:srgbClr val="DEFF9A"/>
                </a:solidFill>
              </a:rPr>
              <a:t>24/7 customer support</a:t>
            </a:r>
            <a:endParaRPr sz="1800"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294694" y="428625"/>
            <a:ext cx="87012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Planning Methods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561736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3" name="Google Shape;93;p17"/>
          <p:cNvSpPr txBox="1"/>
          <p:nvPr/>
        </p:nvSpPr>
        <p:spPr>
          <a:xfrm>
            <a:off x="3466898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4" name="Google Shape;94;p17"/>
          <p:cNvSpPr txBox="1"/>
          <p:nvPr/>
        </p:nvSpPr>
        <p:spPr>
          <a:xfrm>
            <a:off x="3519524" y="3937992"/>
            <a:ext cx="2105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5" name="Google Shape;95;p17"/>
          <p:cNvSpPr txBox="1"/>
          <p:nvPr/>
        </p:nvSpPr>
        <p:spPr>
          <a:xfrm>
            <a:off x="6372060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6" name="Google Shape;96;p17"/>
          <p:cNvSpPr txBox="1"/>
          <p:nvPr/>
        </p:nvSpPr>
        <p:spPr>
          <a:xfrm>
            <a:off x="6424687" y="3937992"/>
            <a:ext cx="2105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3919" y="1031860"/>
            <a:ext cx="6494832" cy="315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4572000" y="4216619"/>
            <a:ext cx="225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EFF9A"/>
                </a:solidFill>
              </a:rPr>
              <a:t>Project Requirements Document:</a:t>
            </a:r>
            <a:br>
              <a:rPr lang="en-GB">
                <a:solidFill>
                  <a:srgbClr val="DEFF9A"/>
                </a:solidFill>
              </a:rPr>
            </a:br>
            <a:r>
              <a:rPr lang="en-GB">
                <a:solidFill>
                  <a:srgbClr val="DEFF9A"/>
                </a:solidFill>
              </a:rPr>
              <a:t>Functional Requirements</a:t>
            </a:r>
            <a:endParaRPr sz="1400">
              <a:solidFill>
                <a:srgbClr val="DEFF9A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52000" y="1408544"/>
            <a:ext cx="22500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400"/>
              <a:buChar char="-"/>
            </a:pPr>
            <a:r>
              <a:rPr lang="en-GB">
                <a:solidFill>
                  <a:srgbClr val="DEFF9A"/>
                </a:solidFill>
              </a:rPr>
              <a:t>First we established the requirements and the </a:t>
            </a:r>
            <a:r>
              <a:rPr lang="en-GB">
                <a:solidFill>
                  <a:srgbClr val="DEFF9A"/>
                </a:solidFill>
              </a:rPr>
              <a:t>required</a:t>
            </a:r>
            <a:r>
              <a:rPr lang="en-GB">
                <a:solidFill>
                  <a:srgbClr val="DEFF9A"/>
                </a:solidFill>
              </a:rPr>
              <a:t> event handling</a:t>
            </a:r>
            <a:endParaRPr>
              <a:solidFill>
                <a:srgbClr val="DEFF9A"/>
              </a:solidFill>
            </a:endParaRPr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400"/>
              <a:buChar char="-"/>
            </a:pPr>
            <a:r>
              <a:rPr lang="en-GB">
                <a:solidFill>
                  <a:srgbClr val="DEFF9A"/>
                </a:solidFill>
              </a:rPr>
              <a:t>Establishing parameters</a:t>
            </a:r>
            <a:endParaRPr>
              <a:solidFill>
                <a:srgbClr val="DEFF9A"/>
              </a:solidFill>
            </a:endParaRPr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400"/>
              <a:buChar char="-"/>
            </a:pPr>
            <a:r>
              <a:rPr lang="en-GB">
                <a:solidFill>
                  <a:srgbClr val="DEFF9A"/>
                </a:solidFill>
              </a:rPr>
              <a:t>Designed the front end and back end architectures</a:t>
            </a:r>
            <a:endParaRPr>
              <a:solidFill>
                <a:srgbClr val="DEFF9A"/>
              </a:solidFill>
            </a:endParaRPr>
          </a:p>
          <a:p>
            <a: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400"/>
              <a:buChar char="-"/>
            </a:pPr>
            <a:r>
              <a:rPr lang="en-GB">
                <a:solidFill>
                  <a:srgbClr val="DEFF9A"/>
                </a:solidFill>
              </a:rPr>
              <a:t>Focused on models, followed by coding</a:t>
            </a:r>
            <a:endParaRPr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294694" y="132575"/>
            <a:ext cx="87012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Planning Methods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561736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7" name="Google Shape;107;p18"/>
          <p:cNvSpPr txBox="1"/>
          <p:nvPr/>
        </p:nvSpPr>
        <p:spPr>
          <a:xfrm>
            <a:off x="3466898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" name="Google Shape;108;p18"/>
          <p:cNvSpPr txBox="1"/>
          <p:nvPr/>
        </p:nvSpPr>
        <p:spPr>
          <a:xfrm>
            <a:off x="3519524" y="3937992"/>
            <a:ext cx="2105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9" name="Google Shape;109;p18"/>
          <p:cNvSpPr txBox="1"/>
          <p:nvPr/>
        </p:nvSpPr>
        <p:spPr>
          <a:xfrm>
            <a:off x="6372060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0" name="Google Shape;110;p18"/>
          <p:cNvSpPr txBox="1"/>
          <p:nvPr/>
        </p:nvSpPr>
        <p:spPr>
          <a:xfrm>
            <a:off x="6424687" y="3937992"/>
            <a:ext cx="2105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1" name="Google Shape;111;p18"/>
          <p:cNvSpPr txBox="1"/>
          <p:nvPr/>
        </p:nvSpPr>
        <p:spPr>
          <a:xfrm>
            <a:off x="1643025" y="4784300"/>
            <a:ext cx="634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EFF9A"/>
                </a:solidFill>
              </a:rPr>
              <a:t>Utilizing Kanban, direct communication, and meeting minutes to track progress</a:t>
            </a:r>
            <a:endParaRPr sz="1400">
              <a:solidFill>
                <a:srgbClr val="DEFF9A"/>
              </a:solidFill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351" y="665738"/>
            <a:ext cx="7423301" cy="406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/>
        </p:nvSpPr>
        <p:spPr>
          <a:xfrm>
            <a:off x="6372060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8" name="Google Shape;118;p19"/>
          <p:cNvSpPr txBox="1"/>
          <p:nvPr/>
        </p:nvSpPr>
        <p:spPr>
          <a:xfrm>
            <a:off x="1177950" y="210525"/>
            <a:ext cx="59202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2465350" y="0"/>
            <a:ext cx="6527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Front End Design 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475" y="1097325"/>
            <a:ext cx="3503924" cy="310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0874" y="1247675"/>
            <a:ext cx="5030600" cy="280544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3193400" y="4298794"/>
            <a:ext cx="22500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EFF9A"/>
                </a:solidFill>
              </a:rPr>
              <a:t>Lo-fidelity Prototypes</a:t>
            </a:r>
            <a:endParaRPr>
              <a:solidFill>
                <a:srgbClr val="DEFF9A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EFF9A"/>
                </a:solidFill>
              </a:rPr>
              <a:t>(front end architecture)</a:t>
            </a:r>
            <a:endParaRPr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6372060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8" name="Google Shape;128;p20"/>
          <p:cNvSpPr txBox="1"/>
          <p:nvPr/>
        </p:nvSpPr>
        <p:spPr>
          <a:xfrm>
            <a:off x="1177950" y="210525"/>
            <a:ext cx="59202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2465350" y="0"/>
            <a:ext cx="65274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 Stack</a:t>
            </a: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and 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 End Architecture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3100" y="1097325"/>
            <a:ext cx="3227327" cy="37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9513" y="1097325"/>
            <a:ext cx="3021255" cy="37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525" y="86275"/>
            <a:ext cx="1725650" cy="497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6372060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8" name="Google Shape;138;p21"/>
          <p:cNvSpPr txBox="1"/>
          <p:nvPr/>
        </p:nvSpPr>
        <p:spPr>
          <a:xfrm>
            <a:off x="1177950" y="210525"/>
            <a:ext cx="59202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2465350" y="0"/>
            <a:ext cx="6527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 End Architecture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788" y="638550"/>
            <a:ext cx="7030416" cy="40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/>
        </p:nvSpPr>
        <p:spPr>
          <a:xfrm>
            <a:off x="6372060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6" name="Google Shape;146;p22"/>
          <p:cNvSpPr txBox="1"/>
          <p:nvPr/>
        </p:nvSpPr>
        <p:spPr>
          <a:xfrm>
            <a:off x="1177950" y="210525"/>
            <a:ext cx="59202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3266825" y="415275"/>
            <a:ext cx="2210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Future MVP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75" y="1097325"/>
            <a:ext cx="3983231" cy="37413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4710325" y="1400575"/>
            <a:ext cx="3983100" cy="31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492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900"/>
              <a:buChar char="-"/>
            </a:pPr>
            <a:r>
              <a:rPr lang="en-GB" sz="1900">
                <a:solidFill>
                  <a:srgbClr val="DEFF9A"/>
                </a:solidFill>
              </a:rPr>
              <a:t>GPS tracking of the drivers</a:t>
            </a:r>
            <a:endParaRPr sz="1900">
              <a:solidFill>
                <a:srgbClr val="DEFF9A"/>
              </a:solidFill>
            </a:endParaRPr>
          </a:p>
          <a:p>
            <a:pPr indent="-3492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900"/>
              <a:buChar char="-"/>
            </a:pPr>
            <a:r>
              <a:rPr lang="en-GB" sz="1900">
                <a:solidFill>
                  <a:srgbClr val="DEFF9A"/>
                </a:solidFill>
              </a:rPr>
              <a:t>Integrated external payment system</a:t>
            </a:r>
            <a:endParaRPr sz="1900">
              <a:solidFill>
                <a:srgbClr val="DEFF9A"/>
              </a:solidFill>
            </a:endParaRPr>
          </a:p>
          <a:p>
            <a:pPr indent="-3492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900"/>
              <a:buChar char="-"/>
            </a:pPr>
            <a:r>
              <a:rPr lang="en-GB" sz="1900">
                <a:solidFill>
                  <a:srgbClr val="DEFF9A"/>
                </a:solidFill>
              </a:rPr>
              <a:t>Drivers license authentication</a:t>
            </a:r>
            <a:endParaRPr sz="1900">
              <a:solidFill>
                <a:srgbClr val="DEFF9A"/>
              </a:solidFill>
            </a:endParaRPr>
          </a:p>
          <a:p>
            <a:pPr indent="-3492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900"/>
              <a:buChar char="-"/>
            </a:pPr>
            <a:r>
              <a:rPr lang="en-GB" sz="1900">
                <a:solidFill>
                  <a:srgbClr val="DEFF9A"/>
                </a:solidFill>
              </a:rPr>
              <a:t>24/7 Chat Support</a:t>
            </a:r>
            <a:endParaRPr sz="1900">
              <a:solidFill>
                <a:srgbClr val="DEFF9A"/>
              </a:solidFill>
            </a:endParaRPr>
          </a:p>
          <a:p>
            <a:pPr indent="-3492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900"/>
              <a:buChar char="-"/>
            </a:pPr>
            <a:r>
              <a:rPr lang="en-GB" sz="1900">
                <a:solidFill>
                  <a:srgbClr val="DEFF9A"/>
                </a:solidFill>
              </a:rPr>
              <a:t>Data protection measures</a:t>
            </a:r>
            <a:endParaRPr sz="1900">
              <a:solidFill>
                <a:srgbClr val="DEFF9A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DEFF9A"/>
                </a:solidFill>
              </a:rPr>
              <a:t>(more abstraction and embedded processes)</a:t>
            </a:r>
            <a:endParaRPr sz="1900">
              <a:solidFill>
                <a:srgbClr val="DEFF9A"/>
              </a:solidFill>
            </a:endParaRPr>
          </a:p>
          <a:p>
            <a:pPr indent="-3492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900"/>
              <a:buChar char="-"/>
            </a:pPr>
            <a:r>
              <a:rPr lang="en-GB" sz="1900">
                <a:solidFill>
                  <a:srgbClr val="DEFF9A"/>
                </a:solidFill>
              </a:rPr>
              <a:t>Expand to other </a:t>
            </a:r>
            <a:r>
              <a:rPr lang="en-GB" sz="1900">
                <a:solidFill>
                  <a:srgbClr val="DEFF9A"/>
                </a:solidFill>
              </a:rPr>
              <a:t>universities</a:t>
            </a:r>
            <a:r>
              <a:rPr lang="en-GB" sz="1900">
                <a:solidFill>
                  <a:srgbClr val="DEFF9A"/>
                </a:solidFill>
              </a:rPr>
              <a:t> </a:t>
            </a:r>
            <a:endParaRPr sz="1900"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/>
        </p:nvSpPr>
        <p:spPr>
          <a:xfrm>
            <a:off x="6372060" y="3659386"/>
            <a:ext cx="221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5" name="Google Shape;155;p23"/>
          <p:cNvSpPr txBox="1"/>
          <p:nvPr/>
        </p:nvSpPr>
        <p:spPr>
          <a:xfrm>
            <a:off x="1177950" y="210525"/>
            <a:ext cx="59202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326425" y="2490150"/>
            <a:ext cx="20901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Questions?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       Or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Feedbacks</a:t>
            </a:r>
            <a:endParaRPr sz="3100">
              <a:solidFill>
                <a:srgbClr val="F5F5F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2272225" y="1464675"/>
            <a:ext cx="41985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900">
                <a:solidFill>
                  <a:srgbClr val="DEFF9A"/>
                </a:solidFill>
              </a:rPr>
              <a:t>THANK YOU!</a:t>
            </a:r>
            <a:endParaRPr b="1" sz="4900"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