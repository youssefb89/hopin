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4F4F4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4F4F4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4F4F4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4F4F4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0224" y="475054"/>
            <a:ext cx="3750945" cy="140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4F4F4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798" y="2177569"/>
            <a:ext cx="52324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194361" y="4235965"/>
            <a:ext cx="580453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35" b="1">
                <a:solidFill>
                  <a:srgbClr val="F4F4F4"/>
                </a:solidFill>
                <a:latin typeface="Gill Sans MT"/>
                <a:cs typeface="Gill Sans MT"/>
              </a:rPr>
              <a:t>Carpooling</a:t>
            </a:r>
            <a:r>
              <a:rPr dirty="0" sz="4500" spc="-145" b="1">
                <a:solidFill>
                  <a:srgbClr val="F4F4F4"/>
                </a:solidFill>
                <a:latin typeface="Gill Sans MT"/>
                <a:cs typeface="Gill Sans MT"/>
              </a:rPr>
              <a:t> </a:t>
            </a:r>
            <a:r>
              <a:rPr dirty="0" sz="4500" spc="60" b="1">
                <a:solidFill>
                  <a:srgbClr val="F4F4F4"/>
                </a:solidFill>
                <a:latin typeface="Gill Sans MT"/>
                <a:cs typeface="Gill Sans MT"/>
              </a:rPr>
              <a:t>Made</a:t>
            </a:r>
            <a:r>
              <a:rPr dirty="0" sz="4500" spc="-140" b="1">
                <a:solidFill>
                  <a:srgbClr val="F4F4F4"/>
                </a:solidFill>
                <a:latin typeface="Gill Sans MT"/>
                <a:cs typeface="Gill Sans MT"/>
              </a:rPr>
              <a:t> </a:t>
            </a:r>
            <a:r>
              <a:rPr dirty="0" sz="4500" spc="-20" b="1">
                <a:solidFill>
                  <a:srgbClr val="F4F4F4"/>
                </a:solidFill>
                <a:latin typeface="Gill Sans MT"/>
                <a:cs typeface="Gill Sans MT"/>
              </a:rPr>
              <a:t>Easy</a:t>
            </a:r>
            <a:endParaRPr sz="4500">
              <a:latin typeface="Gill Sans MT"/>
              <a:cs typeface="Gill Sans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03333" y="5434360"/>
            <a:ext cx="4640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solidFill>
                  <a:srgbClr val="DAFFDD"/>
                </a:solidFill>
                <a:latin typeface="Trebuchet MS"/>
                <a:cs typeface="Trebuchet MS"/>
              </a:rPr>
              <a:t>Project </a:t>
            </a:r>
            <a:r>
              <a:rPr dirty="0" sz="1800" spc="-40">
                <a:solidFill>
                  <a:srgbClr val="DAFFDD"/>
                </a:solidFill>
                <a:latin typeface="Trebuchet MS"/>
                <a:cs typeface="Trebuchet MS"/>
              </a:rPr>
              <a:t>Information</a:t>
            </a:r>
            <a:r>
              <a:rPr dirty="0" sz="1800" spc="-8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AFFDD"/>
                </a:solidFill>
                <a:latin typeface="Trebuchet MS"/>
                <a:cs typeface="Trebuchet MS"/>
              </a:rPr>
              <a:t>&amp;</a:t>
            </a:r>
            <a:r>
              <a:rPr dirty="0" sz="1800" spc="-8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DAFFDD"/>
                </a:solidFill>
                <a:latin typeface="Trebuchet MS"/>
                <a:cs typeface="Trebuchet MS"/>
              </a:rPr>
              <a:t>Hi-</a:t>
            </a:r>
            <a:r>
              <a:rPr dirty="0" sz="1800" spc="-150">
                <a:solidFill>
                  <a:srgbClr val="DAFFDD"/>
                </a:solidFill>
                <a:latin typeface="Trebuchet MS"/>
                <a:cs typeface="Trebuchet MS"/>
              </a:rPr>
              <a:t>Fi</a:t>
            </a:r>
            <a:r>
              <a:rPr dirty="0" sz="1800" spc="-8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DAFFDD"/>
                </a:solidFill>
                <a:latin typeface="Trebuchet MS"/>
                <a:cs typeface="Trebuchet MS"/>
              </a:rPr>
              <a:t>Prototype</a:t>
            </a:r>
            <a:r>
              <a:rPr dirty="0" sz="1800" spc="-9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AFFDD"/>
                </a:solidFill>
                <a:latin typeface="Trebuchet MS"/>
                <a:cs typeface="Trebuchet MS"/>
              </a:rPr>
              <a:t>Workflow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0841" y="593573"/>
            <a:ext cx="3210318" cy="36779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287" y="1047747"/>
            <a:ext cx="5239189" cy="47624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798" y="1416523"/>
            <a:ext cx="406781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About</a:t>
            </a:r>
            <a:r>
              <a:rPr dirty="0" spc="-150"/>
              <a:t> </a:t>
            </a:r>
            <a:r>
              <a:rPr dirty="0" spc="-110"/>
              <a:t>the</a:t>
            </a:r>
            <a:r>
              <a:rPr dirty="0" spc="-135"/>
              <a:t> </a:t>
            </a:r>
            <a:r>
              <a:rPr dirty="0" spc="-185">
                <a:solidFill>
                  <a:srgbClr val="DDFF9A"/>
                </a:solidFill>
              </a:rPr>
              <a:t>Project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58798" y="2177569"/>
            <a:ext cx="52324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25">
                <a:solidFill>
                  <a:srgbClr val="DAFFDD"/>
                </a:solidFill>
                <a:latin typeface="Trebuchet MS"/>
                <a:cs typeface="Trebuchet MS"/>
              </a:rPr>
              <a:t>HopIn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is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75">
                <a:solidFill>
                  <a:srgbClr val="DAFFDD"/>
                </a:solidFill>
                <a:latin typeface="Trebuchet MS"/>
                <a:cs typeface="Trebuchet MS"/>
              </a:rPr>
              <a:t>a</a:t>
            </a:r>
            <a:r>
              <a:rPr dirty="0" sz="1500" spc="-5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FFDD"/>
                </a:solidFill>
                <a:latin typeface="Trebuchet MS"/>
                <a:cs typeface="Trebuchet MS"/>
              </a:rPr>
              <a:t>platform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designed</a:t>
            </a:r>
            <a:r>
              <a:rPr dirty="0" sz="1500" spc="-5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to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make</a:t>
            </a:r>
            <a:r>
              <a:rPr dirty="0" sz="1500" spc="-5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daily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commuting</a:t>
            </a:r>
            <a:r>
              <a:rPr dirty="0" sz="1500" spc="50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efficient</a:t>
            </a:r>
            <a:r>
              <a:rPr dirty="0" sz="1500" spc="-4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and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community-</a:t>
            </a:r>
            <a:r>
              <a:rPr dirty="0" sz="1500" spc="-60">
                <a:solidFill>
                  <a:srgbClr val="DAFFDD"/>
                </a:solidFill>
                <a:latin typeface="Trebuchet MS"/>
                <a:cs typeface="Trebuchet MS"/>
              </a:rPr>
              <a:t>driven.</a:t>
            </a:r>
            <a:r>
              <a:rPr dirty="0" sz="1500" spc="-4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By</a:t>
            </a:r>
            <a:r>
              <a:rPr dirty="0" sz="1500" spc="-4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securely </a:t>
            </a:r>
            <a:r>
              <a:rPr dirty="0" sz="1500" spc="-20">
                <a:solidFill>
                  <a:srgbClr val="DAFFDD"/>
                </a:solidFill>
                <a:latin typeface="Trebuchet MS"/>
                <a:cs typeface="Trebuchet MS"/>
              </a:rPr>
              <a:t>connecting</a:t>
            </a:r>
            <a:r>
              <a:rPr dirty="0" sz="1500" spc="-4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drivers </a:t>
            </a:r>
            <a:r>
              <a:rPr dirty="0" sz="1500" spc="-45">
                <a:solidFill>
                  <a:srgbClr val="DAFFDD"/>
                </a:solidFill>
                <a:latin typeface="Trebuchet MS"/>
                <a:cs typeface="Trebuchet MS"/>
              </a:rPr>
              <a:t>with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empty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seats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to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passengers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on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the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exact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same</a:t>
            </a:r>
            <a:r>
              <a:rPr dirty="0" sz="1500" spc="-3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FFDD"/>
                </a:solidFill>
                <a:latin typeface="Trebuchet MS"/>
                <a:cs typeface="Trebuchet MS"/>
              </a:rPr>
              <a:t>route,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FFDD"/>
                </a:solidFill>
                <a:latin typeface="Trebuchet MS"/>
                <a:cs typeface="Trebuchet MS"/>
              </a:rPr>
              <a:t>it </a:t>
            </a:r>
            <a:r>
              <a:rPr dirty="0" sz="1500" spc="-20">
                <a:solidFill>
                  <a:srgbClr val="DAFFDD"/>
                </a:solidFill>
                <a:latin typeface="Trebuchet MS"/>
                <a:cs typeface="Trebuchet MS"/>
              </a:rPr>
              <a:t>provides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75">
                <a:solidFill>
                  <a:srgbClr val="DAFFDD"/>
                </a:solidFill>
                <a:latin typeface="Trebuchet MS"/>
                <a:cs typeface="Trebuchet MS"/>
              </a:rPr>
              <a:t>a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smart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urban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FFDD"/>
                </a:solidFill>
                <a:latin typeface="Trebuchet MS"/>
                <a:cs typeface="Trebuchet MS"/>
              </a:rPr>
              <a:t>mobility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solution.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2173" y="3672991"/>
            <a:ext cx="40411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Significantly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reduces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daily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commuting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expenses.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173" y="4149240"/>
            <a:ext cx="43935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Lowers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the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carbon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FFDD"/>
                </a:solidFill>
                <a:latin typeface="Trebuchet MS"/>
                <a:cs typeface="Trebuchet MS"/>
              </a:rPr>
              <a:t>footprint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FFDD"/>
                </a:solidFill>
                <a:latin typeface="Trebuchet MS"/>
                <a:cs typeface="Trebuchet MS"/>
              </a:rPr>
              <a:t>in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crowded</a:t>
            </a:r>
            <a:r>
              <a:rPr dirty="0" sz="1500" spc="-7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urban</a:t>
            </a:r>
            <a:r>
              <a:rPr dirty="0" sz="1500" spc="-6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areas.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2173" y="4511189"/>
            <a:ext cx="45339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500" spc="-55">
                <a:solidFill>
                  <a:srgbClr val="DAFFDD"/>
                </a:solidFill>
                <a:latin typeface="Trebuchet MS"/>
                <a:cs typeface="Trebuchet MS"/>
              </a:rPr>
              <a:t>Builds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75">
                <a:solidFill>
                  <a:srgbClr val="DAFFDD"/>
                </a:solidFill>
                <a:latin typeface="Trebuchet MS"/>
                <a:cs typeface="Trebuchet MS"/>
              </a:rPr>
              <a:t>a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FFDD"/>
                </a:solidFill>
                <a:latin typeface="Trebuchet MS"/>
                <a:cs typeface="Trebuchet MS"/>
              </a:rPr>
              <a:t>trusted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community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FFDD"/>
                </a:solidFill>
                <a:latin typeface="Trebuchet MS"/>
                <a:cs typeface="Trebuchet MS"/>
              </a:rPr>
              <a:t>through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FFDD"/>
                </a:solidFill>
                <a:latin typeface="Trebuchet MS"/>
                <a:cs typeface="Trebuchet MS"/>
              </a:rPr>
              <a:t>verified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FFDD"/>
                </a:solidFill>
                <a:latin typeface="Trebuchet MS"/>
                <a:cs typeface="Trebuchet MS"/>
              </a:rPr>
              <a:t>driver</a:t>
            </a:r>
            <a:r>
              <a:rPr dirty="0" sz="1500" spc="-75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FFDD"/>
                </a:solidFill>
                <a:latin typeface="Trebuchet MS"/>
                <a:cs typeface="Trebuchet MS"/>
              </a:rPr>
              <a:t>and </a:t>
            </a:r>
            <a:r>
              <a:rPr dirty="0" sz="1500">
                <a:solidFill>
                  <a:srgbClr val="DAFFDD"/>
                </a:solidFill>
                <a:latin typeface="Trebuchet MS"/>
                <a:cs typeface="Trebuchet MS"/>
              </a:rPr>
              <a:t>passenger</a:t>
            </a:r>
            <a:r>
              <a:rPr dirty="0" sz="1500" spc="12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FFDD"/>
                </a:solidFill>
                <a:latin typeface="Trebuchet MS"/>
                <a:cs typeface="Trebuchet MS"/>
              </a:rPr>
              <a:t>profiles.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798" y="3511066"/>
            <a:ext cx="105410" cy="1492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885"/>
              </a:lnSpc>
              <a:spcBef>
                <a:spcPts val="125"/>
              </a:spcBef>
            </a:pPr>
            <a:r>
              <a:rPr dirty="0" sz="3350" spc="-1200">
                <a:solidFill>
                  <a:srgbClr val="DDFF9A"/>
                </a:solidFill>
                <a:latin typeface="Trebuchet MS"/>
                <a:cs typeface="Trebuchet MS"/>
              </a:rPr>
              <a:t>•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ts val="3750"/>
              </a:lnSpc>
            </a:pPr>
            <a:r>
              <a:rPr dirty="0" sz="3350" spc="-1200">
                <a:solidFill>
                  <a:srgbClr val="DDFF9A"/>
                </a:solidFill>
                <a:latin typeface="Trebuchet MS"/>
                <a:cs typeface="Trebuchet MS"/>
              </a:rPr>
              <a:t>•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ts val="3885"/>
              </a:lnSpc>
            </a:pPr>
            <a:r>
              <a:rPr dirty="0" sz="3350" spc="-1200">
                <a:solidFill>
                  <a:srgbClr val="DDFF9A"/>
                </a:solidFill>
                <a:latin typeface="Trebuchet MS"/>
                <a:cs typeface="Trebuchet MS"/>
              </a:rPr>
              <a:t>•</a:t>
            </a:r>
            <a:endParaRPr sz="3350">
              <a:latin typeface="Trebuchet MS"/>
              <a:cs typeface="Trebuchet M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65850" y="1047747"/>
            <a:ext cx="5670550" cy="4762500"/>
            <a:chOff x="6165850" y="1047747"/>
            <a:chExt cx="5670550" cy="476250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5387" y="1057272"/>
              <a:ext cx="5650988" cy="474344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170612" y="1052510"/>
              <a:ext cx="5661025" cy="4752975"/>
            </a:xfrm>
            <a:custGeom>
              <a:avLst/>
              <a:gdLst/>
              <a:ahLst/>
              <a:cxnLst/>
              <a:rect l="l" t="t" r="r" b="b"/>
              <a:pathLst>
                <a:path w="5661025" h="4752975">
                  <a:moveTo>
                    <a:pt x="0" y="0"/>
                  </a:moveTo>
                  <a:lnTo>
                    <a:pt x="5660538" y="0"/>
                  </a:lnTo>
                  <a:lnTo>
                    <a:pt x="5660538" y="4752977"/>
                  </a:lnTo>
                  <a:lnTo>
                    <a:pt x="0" y="475297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90"/>
              </a:spcBef>
            </a:pPr>
            <a:r>
              <a:rPr dirty="0" spc="-229"/>
              <a:t>Project</a:t>
            </a:r>
            <a:r>
              <a:rPr dirty="0" spc="-100"/>
              <a:t> </a:t>
            </a:r>
            <a:r>
              <a:rPr dirty="0" spc="-90"/>
              <a:t>Planning </a:t>
            </a:r>
            <a:r>
              <a:rPr dirty="0" spc="-10"/>
              <a:t>Methods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25095" y="5709613"/>
            <a:ext cx="1955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1.</a:t>
            </a:r>
            <a:r>
              <a:rPr dirty="0" sz="1800" spc="-35">
                <a:solidFill>
                  <a:srgbClr val="DDFF9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Meeting</a:t>
            </a:r>
            <a:r>
              <a:rPr dirty="0" sz="1800" spc="-20">
                <a:solidFill>
                  <a:srgbClr val="DDFF9A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DDFF9A"/>
                </a:solidFill>
                <a:latin typeface="Arial"/>
                <a:cs typeface="Arial"/>
              </a:rPr>
              <a:t>Minutes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938716" y="5722413"/>
            <a:ext cx="3879215" cy="295275"/>
            <a:chOff x="3938716" y="5722413"/>
            <a:chExt cx="3879215" cy="2952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8716" y="5722413"/>
              <a:ext cx="247649" cy="2952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9709" y="5722413"/>
              <a:ext cx="247649" cy="295274"/>
            </a:xfrm>
            <a:prstGeom prst="rect">
              <a:avLst/>
            </a:prstGeom>
          </p:spPr>
        </p:pic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115020" y="2652757"/>
          <a:ext cx="4074160" cy="1840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605"/>
                <a:gridCol w="2704465"/>
              </a:tblGrid>
              <a:tr h="6134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March</a:t>
                      </a:r>
                      <a:r>
                        <a:rPr dirty="0" sz="1400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790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creation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HTML,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css,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March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21</a:t>
                      </a:r>
                      <a:r>
                        <a:rPr dirty="0" sz="1400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March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28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March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28</a:t>
                      </a:r>
                      <a:r>
                        <a:rPr dirty="0" sz="1400" spc="-1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April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Iteration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 descr=""/>
          <p:cNvGrpSpPr/>
          <p:nvPr/>
        </p:nvGrpSpPr>
        <p:grpSpPr>
          <a:xfrm>
            <a:off x="68260" y="1649649"/>
            <a:ext cx="8017509" cy="3879215"/>
            <a:chOff x="68260" y="1649649"/>
            <a:chExt cx="8017509" cy="387921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2841" y="1649649"/>
              <a:ext cx="4112816" cy="387891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60" y="2151370"/>
              <a:ext cx="3870456" cy="287546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5344177" y="5685991"/>
            <a:ext cx="1067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2.</a:t>
            </a:r>
            <a:r>
              <a:rPr dirty="0" sz="1800" spc="-10">
                <a:solidFill>
                  <a:srgbClr val="DDFF9A"/>
                </a:solidFill>
                <a:latin typeface="Arial"/>
                <a:cs typeface="Arial"/>
              </a:rPr>
              <a:t> Kanban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62474" y="5703098"/>
            <a:ext cx="2412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3.</a:t>
            </a:r>
            <a:r>
              <a:rPr dirty="0" sz="1800" spc="-40">
                <a:solidFill>
                  <a:srgbClr val="DDFF9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Project</a:t>
            </a:r>
            <a:r>
              <a:rPr dirty="0" sz="1800" spc="-30">
                <a:solidFill>
                  <a:srgbClr val="DDFF9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DDFF9A"/>
                </a:solidFill>
                <a:latin typeface="Arial"/>
                <a:cs typeface="Arial"/>
              </a:rPr>
              <a:t>Planning</a:t>
            </a:r>
            <a:r>
              <a:rPr dirty="0" sz="1800" spc="-25">
                <a:solidFill>
                  <a:srgbClr val="DDFF9A"/>
                </a:solidFill>
                <a:latin typeface="Arial"/>
                <a:cs typeface="Arial"/>
              </a:rPr>
              <a:t> Doc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798" y="563944"/>
            <a:ext cx="3469004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System</a:t>
            </a:r>
            <a:r>
              <a:rPr dirty="0" spc="-180"/>
              <a:t> </a:t>
            </a:r>
            <a:r>
              <a:rPr dirty="0" spc="-85"/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146" y="2029270"/>
            <a:ext cx="3326168" cy="333374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7317610" y="2029270"/>
            <a:ext cx="3326765" cy="3333750"/>
            <a:chOff x="7317610" y="2029270"/>
            <a:chExt cx="3326765" cy="333375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7610" y="2029270"/>
              <a:ext cx="3326168" cy="333374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9385" y="2178245"/>
              <a:ext cx="3035793" cy="303579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40839" y="537843"/>
            <a:ext cx="3910329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55"/>
              <a:t>Tour</a:t>
            </a:r>
            <a:r>
              <a:rPr dirty="0" spc="-155"/>
              <a:t> </a:t>
            </a:r>
            <a:r>
              <a:rPr dirty="0"/>
              <a:t>+</a:t>
            </a:r>
            <a:r>
              <a:rPr dirty="0" spc="-165"/>
              <a:t> </a:t>
            </a:r>
            <a:r>
              <a:rPr dirty="0" spc="-30"/>
              <a:t>Feedback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7571" y="2179020"/>
            <a:ext cx="3034218" cy="303421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65436" y="5669738"/>
            <a:ext cx="5099050" cy="57658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69215" rIns="0" bIns="0" rtlCol="0" vert="horz">
            <a:spAutoFit/>
          </a:bodyPr>
          <a:lstStyle/>
          <a:p>
            <a:pPr marL="452755">
              <a:lnSpc>
                <a:spcPct val="100000"/>
              </a:lnSpc>
              <a:spcBef>
                <a:spcPts val="545"/>
              </a:spcBef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Hi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Fi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Prototype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QR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28037" y="5669738"/>
            <a:ext cx="5099050" cy="57658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692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Questionnaire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QR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2026-03-07T04:39:43Z</dcterms:created>
  <dcterms:modified xsi:type="dcterms:W3CDTF">2026-03-07T04:39:43Z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PDFium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